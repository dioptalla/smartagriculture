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Portee maximale vs Spreading Factor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Portee max (km)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SF7</c:v>
                </c:pt>
                <c:pt idx="1">
                  <c:v>SF8</c:v>
                </c:pt>
                <c:pt idx="2">
                  <c:v>SF9</c:v>
                </c:pt>
                <c:pt idx="3">
                  <c:v>SF10</c:v>
                </c:pt>
                <c:pt idx="4">
                  <c:v>SF11</c:v>
                </c:pt>
                <c:pt idx="5">
                  <c:v>SF12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3.4</c:v>
                </c:pt>
                <c:pt idx="2">
                  <c:v>5.2</c:v>
                </c:pt>
                <c:pt idx="3">
                  <c:v>6.8</c:v>
                </c:pt>
                <c:pt idx="4">
                  <c:v>8.1999999999999993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85-4F9B-8022-03B43D6C70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A1A2E"/>
                </a:solidFill>
                <a:latin typeface="Arial"/>
              </a:rPr>
              <a:t>Debit utile vs Spreading Factor (bps)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Debit utile (bps)</c:v>
                </c:pt>
              </c:strCache>
            </c:strRef>
          </c:tx>
          <c:spPr>
            <a:solidFill>
              <a:srgbClr val="0E5C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SF7</c:v>
                </c:pt>
                <c:pt idx="1">
                  <c:v>SF8</c:v>
                </c:pt>
                <c:pt idx="2">
                  <c:v>SF9</c:v>
                </c:pt>
                <c:pt idx="3">
                  <c:v>SF10</c:v>
                </c:pt>
                <c:pt idx="4">
                  <c:v>SF11</c:v>
                </c:pt>
                <c:pt idx="5">
                  <c:v>SF12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5468</c:v>
                </c:pt>
                <c:pt idx="1">
                  <c:v>3125</c:v>
                </c:pt>
                <c:pt idx="2">
                  <c:v>1758</c:v>
                </c:pt>
                <c:pt idx="3">
                  <c:v>977</c:v>
                </c:pt>
                <c:pt idx="4">
                  <c:v>537</c:v>
                </c:pt>
                <c:pt idx="5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2-4CCC-A4A3-BAF62F0752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1A1A2E"/>
                </a:solidFill>
                <a:latin typeface="Arial"/>
              </a:rPr>
              <a:t>Energie par message (mJ)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Energie/message (mJ)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SF7</c:v>
                </c:pt>
                <c:pt idx="1">
                  <c:v>SF8</c:v>
                </c:pt>
                <c:pt idx="2">
                  <c:v>SF9</c:v>
                </c:pt>
                <c:pt idx="3">
                  <c:v>SF10</c:v>
                </c:pt>
                <c:pt idx="4">
                  <c:v>SF11</c:v>
                </c:pt>
                <c:pt idx="5">
                  <c:v>SF12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7.8</c:v>
                </c:pt>
                <c:pt idx="2">
                  <c:v>18.5</c:v>
                </c:pt>
                <c:pt idx="3">
                  <c:v>43.2</c:v>
                </c:pt>
                <c:pt idx="4">
                  <c:v>108</c:v>
                </c:pt>
                <c:pt idx="5">
                  <c:v>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F-4E64-8E90-6E04D3B80B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1A1A2E"/>
                </a:solidFill>
                <a:latin typeface="Arial"/>
              </a:rPr>
              <a:t>Taux d'erreur paquets / PER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(%)</c:v>
                </c:pt>
              </c:strCache>
            </c:strRef>
          </c:tx>
          <c:spPr>
            <a:solidFill>
              <a:srgbClr val="B795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SF7</c:v>
                </c:pt>
                <c:pt idx="1">
                  <c:v>SF8</c:v>
                </c:pt>
                <c:pt idx="2">
                  <c:v>SF9</c:v>
                </c:pt>
                <c:pt idx="3">
                  <c:v>SF10</c:v>
                </c:pt>
                <c:pt idx="4">
                  <c:v>SF11</c:v>
                </c:pt>
                <c:pt idx="5">
                  <c:v>SF12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20.5</c:v>
                </c:pt>
                <c:pt idx="2">
                  <c:v>21.2</c:v>
                </c:pt>
                <c:pt idx="3">
                  <c:v>22.5</c:v>
                </c:pt>
                <c:pt idx="4">
                  <c:v>24.8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55-416D-8273-B726BD27D5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17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85F16-B343-E7C4-0C03-5A29B194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8B6AB-C306-D317-F78E-854785A81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F5ED0-C66A-0746-7B28-3A8663C80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5D9A6-1139-FAD2-6DE4-62A75AA00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87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8503920" cy="45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IBA DER THIAM DE THIÈS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Intelligence Artificielle et Smartech  |  Projet : Réseaux sans fil  |  2025/2026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Optimisation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Réseau LPWAN pour l'IoT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59436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443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d'Étude : Notto Gouye Diama, Sénégal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3749040"/>
            <a:ext cx="384048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822192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FA0"/>
                </a:solidFill>
              </a:rPr>
              <a:t>Présenté par
</a:t>
            </a:r>
            <a:r>
              <a:rPr lang="en-US" sz="1400" b="1" dirty="0">
                <a:solidFill>
                  <a:srgbClr val="FFFFFF"/>
                </a:solidFill>
              </a:rPr>
              <a:t>Talla DIOP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4114800" cy="1005840"/>
          </a:xfrm>
          <a:prstGeom prst="rect">
            <a:avLst/>
          </a:prstGeom>
          <a:solidFill>
            <a:srgbClr val="13223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822192"/>
            <a:ext cx="39319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FA0"/>
                </a:solidFill>
              </a:rPr>
              <a:t>Sous la supervision de
</a:t>
            </a:r>
            <a:r>
              <a:rPr lang="en-US" sz="1400" b="1" dirty="0">
                <a:solidFill>
                  <a:srgbClr val="FFFFFF"/>
                </a:solidFill>
              </a:rPr>
              <a:t>Dr Ibrahima GUEYE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50876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 zones rurales sénégalaises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50876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20700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LPWAN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7556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LoRaWAN, Sigfox, NB-IoT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50876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120700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Réseau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17556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composants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42900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Performances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7588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MATLAB, NS-3, indicateurs clés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342900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67588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ADR, résultats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502920" cy="1645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3429000"/>
            <a:ext cx="448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31272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67588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axes futurs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Émergence de l'IoT dans les pays africains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Zones rurales sénégalaises : fort potentiel agricole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Besoins de surveillance intelligente des cultures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Réseaux traditionnels inadaptés (Wi-Fi, 4G)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5E8F0"/>
                </a:solidFill>
              </a:rPr>
              <a:t>Faible couverture réseau rurale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5E8F0"/>
                </a:solidFill>
              </a:rPr>
              <a:t>Consommation énergétique élevée des capteurs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5E8F0"/>
                </a:solidFill>
              </a:rPr>
              <a:t>Coût élevé des infrastructures classiques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5E8F0"/>
                </a:solidFill>
              </a:rPr>
              <a:t>Absence de solutions de communication fiables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 réseau LPWAN performant, économique et adapté aux zones rurales sénégalaises 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Comparaison des Technologies LPWAN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657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LoRaWAN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Sigfox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NB-IoT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Portée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Très grande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Grande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Grande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Consommation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Tres faible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Tres faible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7950B"/>
                          </a:solidFill>
                        </a:rPr>
                        <a:t>Moyenne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Debit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7950B"/>
                          </a:solidFill>
                        </a:rPr>
                        <a:t>Moyen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22B21"/>
                          </a:solidFill>
                        </a:rPr>
                        <a:t>Tres faible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Eleve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Cout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Faible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Faible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22B21"/>
                          </a:solidFill>
                        </a:rPr>
                        <a:t>Plus eleve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Securite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7950B"/>
                          </a:solidFill>
                        </a:rPr>
                        <a:t>Moyenne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Tres elevee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Infrastructure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Reseau prive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22B21"/>
                          </a:solidFill>
                        </a:rPr>
                        <a:t>Operateur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22B21"/>
                          </a:solidFill>
                        </a:rPr>
                        <a:t>Operateur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Zones rurales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6B3C"/>
                          </a:solidFill>
                        </a:rPr>
                        <a:t>TRES 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C"/>
                          </a:solidFill>
                        </a:rPr>
                        <a:t>Bonne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7950B"/>
                          </a:solidFill>
                        </a:rPr>
                        <a:t>Moyenne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retenu : longue portee, faible cout, reseau prive, parfaitement adapte aux zones rurales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Architecture du Reseau LoRaWAN Propose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554480" cy="1463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IoT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noeuds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SX1276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 MHz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801368" y="16002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1463040"/>
          </a:xfrm>
          <a:prstGeom prst="rect">
            <a:avLst/>
          </a:prstGeom>
          <a:solidFill>
            <a:srgbClr val="0E5C8C"/>
          </a:solidFill>
          <a:ln w="12700">
            <a:solidFill>
              <a:srgbClr val="0E5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gateways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RAK2245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Portee 4.8 km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84448" y="16002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005840"/>
            <a:ext cx="1554480" cy="146304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Chirpstack v4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1.0.4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67528" y="16002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005840"/>
            <a:ext cx="1554480" cy="14630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50608" y="16002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1005840"/>
            <a:ext cx="1554480" cy="14630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0789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162763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d'etude : Notto Gouye Diama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154680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Commune rurale - departement de Thies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Surface couverte : 75 km2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50 capteurs sur parcelles agricoles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3 gateways positionnees strategiquement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Distance max capteur-gateway : 15 km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20624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Cles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154680"/>
          <a:ext cx="4069080" cy="1691640"/>
        </p:xfrm>
        <a:graphic>
          <a:graphicData uri="http://schemas.openxmlformats.org/drawingml/2006/table">
            <a:tbl>
              <a:tblPr/>
              <a:tblGrid>
                <a:gridCol w="203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Frequence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868 MHz (bande ISM)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Bande passante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125 kHz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Spreading Factor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SF7 a SF12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Modele propagation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Okumura-Hata Rural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Batterie capteur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2000 mAh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A8D8B9"/>
                          </a:solidFill>
                        </a:rPr>
                        <a:t>Intervalle TX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15 minutes</a:t>
                      </a:r>
                      <a:endParaRPr lang="en-US" sz="950" dirty="0"/>
                    </a:p>
                  </a:txBody>
                  <a:tcPr>
                    <a:lnL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Resultats de Simulation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914400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74320" y="324612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4846320" y="324612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Optimisation &amp; Intelligence Artificielle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457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Energetique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Regroupement des donnees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Mode veille entre transmissions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Gestion du Duty 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88920" cy="457200"/>
          </a:xfrm>
          <a:prstGeom prst="rect">
            <a:avLst/>
          </a:prstGeom>
          <a:solidFill>
            <a:srgbClr val="0E5C8C"/>
          </a:solidFill>
          <a:ln w="12700">
            <a:solidFill>
              <a:srgbClr val="0E5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Couverture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01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Placement strategique gateways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Puissance d'emission adaptative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SF optimal par distance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88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88920" cy="45720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(ADR)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819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Agent IA optimise les parametres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Convergence ~350 episodes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Reduction PER et consommation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657600"/>
            <a:ext cx="8686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Avant / Apres Optimisation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005072"/>
          <a:ext cx="8686800" cy="11430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Critere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Avant Opt.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Apres Opt.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Consommation energetique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2B21"/>
                          </a:solidFill>
                        </a:rPr>
                        <a:t>Elevee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6B3C"/>
                          </a:solidFill>
                        </a:rPr>
                        <a:t>Reduite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Pertes de paquets (PER)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2B21"/>
                          </a:solidFill>
                        </a:rPr>
                        <a:t>Frequentes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6B3C"/>
                          </a:solidFill>
                        </a:rPr>
                        <a:t>Reduites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Autonomie des capteurs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2B21"/>
                          </a:solidFill>
                        </a:rPr>
                        <a:t>Faible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6B3C"/>
                          </a:solidFill>
                        </a:rPr>
                        <a:t>Elevee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Qualite du 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922B21"/>
                          </a:solidFill>
                        </a:rPr>
                        <a:t>Instable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6B3C"/>
                          </a:solidFill>
                        </a:rPr>
                        <a:t>Optimisee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90C50-189D-6061-421F-A9730A82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D2DCAA-9BAF-911B-F895-9989277146FC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9CEDEF-7A7E-7A08-8AF5-21B26DED6FF2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Test de simulation et demonstration de la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IoT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7C4D56-F05D-38CC-F616-1364D9BAFC09}"/>
              </a:ext>
            </a:extLst>
          </p:cNvPr>
          <p:cNvSpPr/>
          <p:nvPr/>
        </p:nvSpPr>
        <p:spPr>
          <a:xfrm>
            <a:off x="3200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02B3C7-9612-333A-B3EC-95BDC8FA8B67}"/>
              </a:ext>
            </a:extLst>
          </p:cNvPr>
          <p:cNvSpPr/>
          <p:nvPr/>
        </p:nvSpPr>
        <p:spPr>
          <a:xfrm>
            <a:off x="3383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518625-D795-1ED0-9200-A91094D5128F}"/>
              </a:ext>
            </a:extLst>
          </p:cNvPr>
          <p:cNvSpPr/>
          <p:nvPr/>
        </p:nvSpPr>
        <p:spPr>
          <a:xfrm>
            <a:off x="32918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17A7B2-668E-3DDA-37A5-1E63D5173DC9}"/>
              </a:ext>
            </a:extLst>
          </p:cNvPr>
          <p:cNvSpPr/>
          <p:nvPr/>
        </p:nvSpPr>
        <p:spPr>
          <a:xfrm>
            <a:off x="33101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FD82A07-8573-B6BF-8C57-D92118699C7E}"/>
              </a:ext>
            </a:extLst>
          </p:cNvPr>
          <p:cNvSpPr/>
          <p:nvPr/>
        </p:nvSpPr>
        <p:spPr>
          <a:xfrm>
            <a:off x="6263640" y="1005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4FD1C3-C572-49A2-3A8E-447F69349FC7}"/>
              </a:ext>
            </a:extLst>
          </p:cNvPr>
          <p:cNvSpPr/>
          <p:nvPr/>
        </p:nvSpPr>
        <p:spPr>
          <a:xfrm>
            <a:off x="6281928" y="1508760"/>
            <a:ext cx="25786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E07390-EF5D-CF9B-D6A1-393D77E76CFD}"/>
              </a:ext>
            </a:extLst>
          </p:cNvPr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D6048DDF-3174-52D7-AFAE-D8A67201ADCA}"/>
              </a:ext>
            </a:extLst>
          </p:cNvPr>
          <p:cNvSpPr/>
          <p:nvPr/>
        </p:nvSpPr>
        <p:spPr>
          <a:xfrm>
            <a:off x="3310128" y="2422313"/>
            <a:ext cx="1100328" cy="795866"/>
          </a:xfrm>
          <a:prstGeom prst="homePlat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 : chevron 21">
            <a:extLst>
              <a:ext uri="{FF2B5EF4-FFF2-40B4-BE49-F238E27FC236}">
                <a16:creationId xmlns:a16="http://schemas.microsoft.com/office/drawing/2014/main" id="{BCC01CC3-E990-3D76-20F6-A84A40E77C02}"/>
              </a:ext>
            </a:extLst>
          </p:cNvPr>
          <p:cNvSpPr/>
          <p:nvPr/>
        </p:nvSpPr>
        <p:spPr>
          <a:xfrm>
            <a:off x="4191848" y="2422312"/>
            <a:ext cx="830072" cy="795867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chevron 22">
            <a:extLst>
              <a:ext uri="{FF2B5EF4-FFF2-40B4-BE49-F238E27FC236}">
                <a16:creationId xmlns:a16="http://schemas.microsoft.com/office/drawing/2014/main" id="{153972CE-51C1-1855-56CD-E84B127FA756}"/>
              </a:ext>
            </a:extLst>
          </p:cNvPr>
          <p:cNvSpPr/>
          <p:nvPr/>
        </p:nvSpPr>
        <p:spPr>
          <a:xfrm>
            <a:off x="4802463" y="2422312"/>
            <a:ext cx="830072" cy="795867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Flèche : chevron 23">
            <a:extLst>
              <a:ext uri="{FF2B5EF4-FFF2-40B4-BE49-F238E27FC236}">
                <a16:creationId xmlns:a16="http://schemas.microsoft.com/office/drawing/2014/main" id="{3408BE84-FEB3-69A4-1BE0-2B15ACCD885D}"/>
              </a:ext>
            </a:extLst>
          </p:cNvPr>
          <p:cNvSpPr/>
          <p:nvPr/>
        </p:nvSpPr>
        <p:spPr>
          <a:xfrm>
            <a:off x="5410370" y="2419772"/>
            <a:ext cx="830072" cy="795867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148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520"/>
          </a:solidFill>
          <a:ln w="12700">
            <a:solidFill>
              <a:srgbClr val="0B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Conclusion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200400"/>
          </a:xfrm>
          <a:prstGeom prst="rect">
            <a:avLst/>
          </a:prstGeom>
          <a:solidFill>
            <a:srgbClr val="132238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Resultats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LoRaWAN : solution efficace pour l'IoT rural senegalais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Couverture de plusieurs km avec 3 gateways sur 75 km2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SF9/SF10 : meilleur compromis portee/energie/debit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SF7 : duree de vie batterie ~48 ans vs 0.8 an en SF12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Q-Learning : ameliore l'ADR, convergence des ~350 episodes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Agriculture intelligente : irrigation automatisee operationnelle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914400"/>
            <a:ext cx="3383280" cy="3200400"/>
          </a:xfrm>
          <a:prstGeom prst="rect">
            <a:avLst/>
          </a:prstGeom>
          <a:solidFill>
            <a:srgbClr val="13223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05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Deploiement reel a grande echelle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Deep Learning pour prediction reseau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Integration Cloud &amp; Big Data (AWS IoT)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Extension vers les Smart Cities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D5EAF5"/>
                </a:solidFill>
              </a:rPr>
              <a:t>Cybersecurite IoT avancee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+ Intelligence Artificielle : une base solide pour les solutions IoT intelligentes en Afrique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588</Words>
  <Application>Microsoft Office PowerPoint</Application>
  <PresentationFormat>Affichage à l'écran (16:9)</PresentationFormat>
  <Paragraphs>177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Optimisation d'un Réseau LPWAN pour l'IoT</dc:title>
  <dc:subject>PptxGenJS Presentation</dc:subject>
  <dc:creator>PptxGenJS</dc:creator>
  <cp:lastModifiedBy>HP</cp:lastModifiedBy>
  <cp:revision>2</cp:revision>
  <dcterms:created xsi:type="dcterms:W3CDTF">2026-05-25T23:29:51Z</dcterms:created>
  <dcterms:modified xsi:type="dcterms:W3CDTF">2026-05-25T23:44:54Z</dcterms:modified>
</cp:coreProperties>
</file>